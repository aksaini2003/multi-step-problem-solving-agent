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Gilda Display" panose="020B0604020202020204" charset="0"/>
      <p:regular r:id="rId12"/>
    </p:embeddedFont>
    <p:embeddedFont>
      <p:font typeface="HK Grotesk" panose="020B0604020202020204" charset="0"/>
      <p:regular r:id="rId13"/>
    </p:embeddedFont>
    <p:embeddedFont>
      <p:font typeface="HK Grotesk Bold" panose="020B0604020202020204" charset="0"/>
      <p:regular r:id="rId14"/>
    </p:embeddedFont>
    <p:embeddedFont>
      <p:font typeface="HK Grotesk Light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49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file/d/128GJV5kJNJRLAtgw9yUUPin0pkyQmrsv/view?usp=sharing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ksaini2003/Multi-Step-Problem-Solving-Agent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8629650" cy="8953500"/>
            <a:chOff x="0" y="0"/>
            <a:chExt cx="1336959" cy="13871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6959" cy="1387131"/>
            </a:xfrm>
            <a:custGeom>
              <a:avLst/>
              <a:gdLst/>
              <a:ahLst/>
              <a:cxnLst/>
              <a:rect l="l" t="t" r="r" b="b"/>
              <a:pathLst>
                <a:path w="1336959" h="1387131">
                  <a:moveTo>
                    <a:pt x="35885" y="0"/>
                  </a:moveTo>
                  <a:lnTo>
                    <a:pt x="1301073" y="0"/>
                  </a:lnTo>
                  <a:cubicBezTo>
                    <a:pt x="1310591" y="0"/>
                    <a:pt x="1319718" y="3781"/>
                    <a:pt x="1326448" y="10511"/>
                  </a:cubicBezTo>
                  <a:cubicBezTo>
                    <a:pt x="1333178" y="17240"/>
                    <a:pt x="1336959" y="26368"/>
                    <a:pt x="1336959" y="35885"/>
                  </a:cubicBezTo>
                  <a:lnTo>
                    <a:pt x="1336959" y="1351246"/>
                  </a:lnTo>
                  <a:cubicBezTo>
                    <a:pt x="1336959" y="1360764"/>
                    <a:pt x="1333178" y="1369891"/>
                    <a:pt x="1326448" y="1376621"/>
                  </a:cubicBezTo>
                  <a:cubicBezTo>
                    <a:pt x="1319718" y="1383351"/>
                    <a:pt x="1310591" y="1387131"/>
                    <a:pt x="1301073" y="1387131"/>
                  </a:cubicBezTo>
                  <a:lnTo>
                    <a:pt x="35885" y="1387131"/>
                  </a:lnTo>
                  <a:cubicBezTo>
                    <a:pt x="26368" y="1387131"/>
                    <a:pt x="17240" y="1383351"/>
                    <a:pt x="10511" y="1376621"/>
                  </a:cubicBezTo>
                  <a:cubicBezTo>
                    <a:pt x="3781" y="1369891"/>
                    <a:pt x="0" y="1360764"/>
                    <a:pt x="0" y="1351246"/>
                  </a:cubicBezTo>
                  <a:lnTo>
                    <a:pt x="0" y="35885"/>
                  </a:lnTo>
                  <a:cubicBezTo>
                    <a:pt x="0" y="26368"/>
                    <a:pt x="3781" y="17240"/>
                    <a:pt x="10511" y="10511"/>
                  </a:cubicBezTo>
                  <a:cubicBezTo>
                    <a:pt x="17240" y="3781"/>
                    <a:pt x="26368" y="0"/>
                    <a:pt x="35885" y="0"/>
                  </a:cubicBezTo>
                  <a:close/>
                </a:path>
              </a:pathLst>
            </a:custGeom>
            <a:blipFill>
              <a:blip r:embed="rId3"/>
              <a:stretch>
                <a:fillRect t="-199" b="-199"/>
              </a:stretch>
            </a:blipFill>
            <a:ln w="28575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id="5" name="Group 5"/>
          <p:cNvGrpSpPr/>
          <p:nvPr/>
        </p:nvGrpSpPr>
        <p:grpSpPr>
          <a:xfrm>
            <a:off x="10734675" y="1126906"/>
            <a:ext cx="6886575" cy="3782981"/>
            <a:chOff x="0" y="0"/>
            <a:chExt cx="9182100" cy="5043975"/>
          </a:xfrm>
        </p:grpSpPr>
        <p:sp>
          <p:nvSpPr>
            <p:cNvPr id="6" name="TextBox 6"/>
            <p:cNvSpPr txBox="1"/>
            <p:nvPr/>
          </p:nvSpPr>
          <p:spPr>
            <a:xfrm>
              <a:off x="0" y="2520968"/>
              <a:ext cx="9182100" cy="25230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185"/>
                </a:lnSpc>
              </a:pPr>
              <a:r>
                <a:rPr lang="en-US" sz="7185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 Multi-Step Reasoning Agent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71668"/>
              <a:ext cx="9182100" cy="9340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880"/>
                </a:lnSpc>
              </a:pPr>
              <a:r>
                <a:rPr lang="en-US" sz="4200">
                  <a:solidFill>
                    <a:srgbClr val="4A90E2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Plan-Then-Act Overview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9182100" cy="4938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</a:pPr>
              <a:r>
                <a:rPr lang="en-US" sz="2199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10-09-2026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3867480" cy="4439880"/>
            <a:chOff x="0" y="0"/>
            <a:chExt cx="18489974" cy="5919839"/>
          </a:xfrm>
        </p:grpSpPr>
        <p:sp>
          <p:nvSpPr>
            <p:cNvPr id="3" name="TextBox 3"/>
            <p:cNvSpPr txBox="1"/>
            <p:nvPr/>
          </p:nvSpPr>
          <p:spPr>
            <a:xfrm>
              <a:off x="0" y="3951339"/>
              <a:ext cx="18489974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Build an agent that breaks a complex question or task into sub-steps and uses at least two tools (e.g. web search, a calculator, code execution, an API call) to reach a final answer. Show the reasoning trail, not just the final output.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171450"/>
              <a:ext cx="11664779" cy="30983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Problem Statement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05025" y="3002297"/>
            <a:ext cx="12639675" cy="3914808"/>
            <a:chOff x="0" y="0"/>
            <a:chExt cx="16852900" cy="5219744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68529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Framing Rejections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251244"/>
              <a:ext cx="16852900" cy="19685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I rejected a single ReAct agent due to its implicit reasoning stream, opting instead for an explicit, visible plan that improves understanding and execution clarity.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86063"/>
              <a:ext cx="168529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Considerations for Effective Agent Design</a:t>
              </a:r>
            </a:p>
          </p:txBody>
        </p:sp>
      </p:grpSp>
      <p:sp>
        <p:nvSpPr>
          <p:cNvPr id="6" name="Freeform 6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3" name="TextBox 3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Architecture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Fixed Flow Decisions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155222" y="2728997"/>
            <a:ext cx="6886575" cy="2838450"/>
            <a:chOff x="0" y="0"/>
            <a:chExt cx="9182100" cy="37846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Deterministic Orchestration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55700"/>
              <a:ext cx="91821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agentic decisions are based on a fixed graph shape, where the planner directs the executor, ensuring a clear flow from inputs to outputs.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55222" y="6308694"/>
            <a:ext cx="6886575" cy="2838450"/>
            <a:chOff x="0" y="0"/>
            <a:chExt cx="9182100" cy="3784600"/>
          </a:xfrm>
        </p:grpSpPr>
        <p:sp>
          <p:nvSpPr>
            <p:cNvPr id="9" name="TextBox 9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Tool Sequence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55700"/>
              <a:ext cx="9182100" cy="26289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 u="none" strike="noStrike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order and arguments of tool calls are determined solely by the LLM, leading to a structured yet flexible execution process that adapts to the plan.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Freeform 12"/>
          <p:cNvSpPr/>
          <p:nvPr/>
        </p:nvSpPr>
        <p:spPr>
          <a:xfrm>
            <a:off x="2182447" y="3372202"/>
            <a:ext cx="3392037" cy="5464948"/>
          </a:xfrm>
          <a:custGeom>
            <a:avLst/>
            <a:gdLst/>
            <a:ahLst/>
            <a:cxnLst/>
            <a:rect l="l" t="t" r="r" b="b"/>
            <a:pathLst>
              <a:path w="3392037" h="5464948">
                <a:moveTo>
                  <a:pt x="0" y="0"/>
                </a:moveTo>
                <a:lnTo>
                  <a:pt x="3392037" y="0"/>
                </a:lnTo>
                <a:lnTo>
                  <a:pt x="3392037" y="5464948"/>
                </a:lnTo>
                <a:lnTo>
                  <a:pt x="0" y="5464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4437773">
            <a:off x="13770320" y="-6241286"/>
            <a:ext cx="12640239" cy="11904807"/>
          </a:xfrm>
          <a:custGeom>
            <a:avLst/>
            <a:gdLst/>
            <a:ahLst/>
            <a:cxnLst/>
            <a:rect l="l" t="t" r="r" b="b"/>
            <a:pathLst>
              <a:path w="12640239" h="11904807">
                <a:moveTo>
                  <a:pt x="0" y="0"/>
                </a:moveTo>
                <a:lnTo>
                  <a:pt x="12640239" y="0"/>
                </a:lnTo>
                <a:lnTo>
                  <a:pt x="12640239" y="11904806"/>
                </a:lnTo>
                <a:lnTo>
                  <a:pt x="0" y="11904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666750"/>
            <a:ext cx="14077950" cy="2062247"/>
            <a:chOff x="0" y="0"/>
            <a:chExt cx="18770600" cy="2749662"/>
          </a:xfrm>
        </p:grpSpPr>
        <p:sp>
          <p:nvSpPr>
            <p:cNvPr id="4" name="TextBox 4"/>
            <p:cNvSpPr txBox="1"/>
            <p:nvPr/>
          </p:nvSpPr>
          <p:spPr>
            <a:xfrm>
              <a:off x="0" y="171450"/>
              <a:ext cx="18770600" cy="16124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799"/>
                </a:lnSpc>
              </a:pPr>
              <a:r>
                <a:rPr lang="en-US" sz="8799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Planning and Execution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130537"/>
              <a:ext cx="187706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Understanding the agent's workflow process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6750" y="5143500"/>
            <a:ext cx="5448300" cy="3659505"/>
            <a:chOff x="0" y="0"/>
            <a:chExt cx="7264400" cy="4879340"/>
          </a:xfrm>
        </p:grpSpPr>
        <p:sp>
          <p:nvSpPr>
            <p:cNvPr id="7" name="TextBox 7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Separate Models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155700"/>
              <a:ext cx="7264400" cy="372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5"/>
                </a:lnSpc>
              </a:pPr>
              <a:r>
                <a:rPr lang="en-US" sz="2850" u="none" strike="noStrike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planner and executor work independently, ensuring a </a:t>
              </a:r>
              <a:r>
                <a:rPr lang="en-US" sz="2850" b="1" u="none" strike="noStrike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clear distinction</a:t>
              </a:r>
              <a:r>
                <a:rPr lang="en-US" sz="2850" u="none" strike="noStrike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between planning and execution stages in the reasoning process, which enhances overall efficiency and clarity.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419850" y="5143500"/>
            <a:ext cx="5448300" cy="3659505"/>
            <a:chOff x="0" y="0"/>
            <a:chExt cx="7264400" cy="487934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Structured Output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55700"/>
              <a:ext cx="7264400" cy="372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5"/>
                </a:lnSpc>
              </a:pPr>
              <a:r>
                <a:rPr lang="en-US" sz="2850" u="none" strike="noStrike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The planner generates a </a:t>
              </a:r>
              <a:r>
                <a:rPr lang="en-US" sz="2850" b="1" u="none" strike="noStrike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numbered plan</a:t>
              </a:r>
              <a:r>
                <a:rPr lang="en-US" sz="2850" u="none" strike="noStrike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tagged with necessary tools, providing a systematic approach that helps in organizing thoughts and actions required for task completion.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172950" y="5143500"/>
            <a:ext cx="5448300" cy="3659505"/>
            <a:chOff x="0" y="0"/>
            <a:chExt cx="7264400" cy="4879340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9525"/>
              <a:ext cx="72644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 u="none" strike="noStrike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Clean Reasoning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155700"/>
              <a:ext cx="7264400" cy="37236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05"/>
                </a:lnSpc>
              </a:pPr>
              <a:r>
                <a:rPr lang="en-US" sz="2850" u="none" strike="noStrike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architecture allows for a </a:t>
              </a:r>
              <a:r>
                <a:rPr lang="en-US" sz="2850" b="1" u="none" strike="noStrike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clean reasoning trail</a:t>
              </a:r>
              <a:r>
                <a:rPr lang="en-US" sz="2850" u="none" strike="noStrike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, isolating failures in planning from execution errors, thus facilitating better troubleshooting and understanding of the agent's operations.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1562100"/>
            <a:ext cx="6886575" cy="5372100"/>
            <a:chOff x="0" y="0"/>
            <a:chExt cx="1200275" cy="93631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00275" cy="936314"/>
            </a:xfrm>
            <a:custGeom>
              <a:avLst/>
              <a:gdLst/>
              <a:ahLst/>
              <a:cxnLst/>
              <a:rect l="l" t="t" r="r" b="b"/>
              <a:pathLst>
                <a:path w="1200275" h="936314">
                  <a:moveTo>
                    <a:pt x="44968" y="0"/>
                  </a:moveTo>
                  <a:lnTo>
                    <a:pt x="1155306" y="0"/>
                  </a:lnTo>
                  <a:cubicBezTo>
                    <a:pt x="1167233" y="0"/>
                    <a:pt x="1178670" y="4738"/>
                    <a:pt x="1187104" y="13171"/>
                  </a:cubicBezTo>
                  <a:cubicBezTo>
                    <a:pt x="1195537" y="21604"/>
                    <a:pt x="1200275" y="33042"/>
                    <a:pt x="1200275" y="44968"/>
                  </a:cubicBezTo>
                  <a:lnTo>
                    <a:pt x="1200275" y="891345"/>
                  </a:lnTo>
                  <a:cubicBezTo>
                    <a:pt x="1200275" y="903272"/>
                    <a:pt x="1195537" y="914710"/>
                    <a:pt x="1187104" y="923143"/>
                  </a:cubicBezTo>
                  <a:cubicBezTo>
                    <a:pt x="1178670" y="931576"/>
                    <a:pt x="1167233" y="936314"/>
                    <a:pt x="1155306" y="936314"/>
                  </a:cubicBezTo>
                  <a:lnTo>
                    <a:pt x="44968" y="936314"/>
                  </a:lnTo>
                  <a:cubicBezTo>
                    <a:pt x="33042" y="936314"/>
                    <a:pt x="21604" y="931576"/>
                    <a:pt x="13171" y="923143"/>
                  </a:cubicBezTo>
                  <a:cubicBezTo>
                    <a:pt x="4738" y="914710"/>
                    <a:pt x="0" y="903272"/>
                    <a:pt x="0" y="891345"/>
                  </a:cubicBezTo>
                  <a:lnTo>
                    <a:pt x="0" y="44968"/>
                  </a:lnTo>
                  <a:cubicBezTo>
                    <a:pt x="0" y="33042"/>
                    <a:pt x="4738" y="21604"/>
                    <a:pt x="13171" y="13171"/>
                  </a:cubicBezTo>
                  <a:cubicBezTo>
                    <a:pt x="21604" y="4738"/>
                    <a:pt x="33042" y="0"/>
                    <a:pt x="44968" y="0"/>
                  </a:cubicBezTo>
                  <a:close/>
                </a:path>
              </a:pathLst>
            </a:custGeom>
            <a:blipFill>
              <a:blip r:embed="rId2"/>
              <a:stretch>
                <a:fillRect l="-85" r="-8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666750" y="800100"/>
            <a:ext cx="6886575" cy="410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50"/>
              </a:lnSpc>
            </a:pPr>
            <a:r>
              <a:rPr lang="en-US" sz="795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Live Demonstration of Agent Functionality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296400" y="7829550"/>
            <a:ext cx="6886575" cy="1302131"/>
            <a:chOff x="0" y="0"/>
            <a:chExt cx="9182100" cy="1736175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Exploring Multi-Step Decision Making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779653"/>
              <a:ext cx="9182100" cy="95652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859"/>
                </a:lnSpc>
              </a:pPr>
              <a:r>
                <a:rPr lang="en-US" sz="2199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This demo showcases </a:t>
              </a:r>
              <a:r>
                <a:rPr lang="en-US" sz="2199" b="1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how the agent</a:t>
              </a:r>
              <a:r>
                <a:rPr lang="en-US" sz="2199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 decomposes tasks and handles errors gracefully.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1268288">
            <a:off x="14275228" y="-6577016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66750" y="6467475"/>
            <a:ext cx="656947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Google Drive Recording Link: </a:t>
            </a:r>
            <a:r>
              <a:rPr lang="en-US" sz="3000" b="1">
                <a:solidFill>
                  <a:srgbClr val="4A90E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3000" b="1" u="sng">
                <a:solidFill>
                  <a:srgbClr val="4A90E2"/>
                </a:solidFill>
                <a:latin typeface="HK Grotesk Bold"/>
                <a:ea typeface="HK Grotesk Bold"/>
                <a:cs typeface="HK Grotesk Bold"/>
                <a:sym typeface="HK Grotesk Bold"/>
                <a:hlinkClick r:id="rId4" tooltip="https://drive.google.com/file/d/128GJV5kJNJRLAtgw9yUUPin0pkyQmrsv/view?usp=sharing"/>
              </a:rPr>
              <a:t>LINK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156052">
            <a:off x="-3053910" y="7516388"/>
            <a:ext cx="6407041" cy="7627430"/>
          </a:xfrm>
          <a:custGeom>
            <a:avLst/>
            <a:gdLst/>
            <a:ahLst/>
            <a:cxnLst/>
            <a:rect l="l" t="t" r="r" b="b"/>
            <a:pathLst>
              <a:path w="6407041" h="7627430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6750" y="838200"/>
            <a:ext cx="6886575" cy="3395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Error Handling Strategies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296400" y="65722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4A90E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734675" y="666843"/>
            <a:ext cx="6886575" cy="3286125"/>
            <a:chOff x="0" y="0"/>
            <a:chExt cx="9182100" cy="4381500"/>
          </a:xfrm>
        </p:grpSpPr>
        <p:sp>
          <p:nvSpPr>
            <p:cNvPr id="6" name="TextBox 6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Invalid Inputs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55700"/>
              <a:ext cx="9182100" cy="322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1A1A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system gracefully handles invalid inputs by returning clear error messages, ensuring the user understands the issue without disrupting overall functionality and experience.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296400" y="513397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4A90E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734675" y="5143500"/>
            <a:ext cx="6886575" cy="3286125"/>
            <a:chOff x="0" y="0"/>
            <a:chExt cx="9182100" cy="4381500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Recursion Limits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55700"/>
              <a:ext cx="9182100" cy="322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1A1A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recursion limit is implemented to prevent endless tool-calling loops, maintaining system stability and allowing for predictable execution without system crashes.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296400" y="65722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4A90E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01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734675" y="666750"/>
            <a:ext cx="6886575" cy="1838325"/>
            <a:chOff x="0" y="0"/>
            <a:chExt cx="9182100" cy="2451100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Sequential Calls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1168400"/>
              <a:ext cx="9182100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1A1A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Tool calls are executed one after another, not concurrently.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296400" y="334327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4A90E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02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734675" y="3352800"/>
            <a:ext cx="6886575" cy="1828800"/>
            <a:chOff x="0" y="0"/>
            <a:chExt cx="9182100" cy="2438400"/>
          </a:xfrm>
        </p:grpSpPr>
        <p:sp>
          <p:nvSpPr>
            <p:cNvPr id="8" name="TextBox 8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No Re-planning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55700"/>
              <a:ext cx="9182100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1A1A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If a failure occurs, it cannot re-evaluate the plan.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296400" y="6029325"/>
            <a:ext cx="113347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99"/>
              </a:lnSpc>
              <a:spcBef>
                <a:spcPct val="0"/>
              </a:spcBef>
            </a:pPr>
            <a:r>
              <a:rPr lang="en-US" sz="2999" b="1" u="none">
                <a:solidFill>
                  <a:srgbClr val="4A90E2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734675" y="6033135"/>
            <a:ext cx="6886575" cy="1834515"/>
            <a:chOff x="0" y="0"/>
            <a:chExt cx="9182100" cy="244602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9525"/>
              <a:ext cx="9182100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Future Enhancements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163320"/>
              <a:ext cx="9182100" cy="1282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99"/>
                </a:lnSpc>
              </a:pPr>
              <a:r>
                <a:rPr lang="en-US" sz="2999">
                  <a:solidFill>
                    <a:srgbClr val="1A1A1A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Aim to improve tracking and adherence to planned steps.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6750" y="800100"/>
            <a:ext cx="6886575" cy="312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25"/>
              </a:lnSpc>
            </a:pPr>
            <a:r>
              <a:rPr lang="en-US" sz="8025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Limitations and Future Enhancements</a:t>
            </a:r>
          </a:p>
        </p:txBody>
      </p:sp>
      <p:sp>
        <p:nvSpPr>
          <p:cNvPr id="15" name="Freeform 15"/>
          <p:cNvSpPr/>
          <p:nvPr/>
        </p:nvSpPr>
        <p:spPr>
          <a:xfrm rot="-2156052">
            <a:off x="-3053910" y="7516388"/>
            <a:ext cx="6407041" cy="7627430"/>
          </a:xfrm>
          <a:custGeom>
            <a:avLst/>
            <a:gdLst/>
            <a:ahLst/>
            <a:cxnLst/>
            <a:rect l="l" t="t" r="r" b="b"/>
            <a:pathLst>
              <a:path w="6407041" h="7627430">
                <a:moveTo>
                  <a:pt x="0" y="0"/>
                </a:moveTo>
                <a:lnTo>
                  <a:pt x="6407041" y="0"/>
                </a:lnTo>
                <a:lnTo>
                  <a:pt x="6407041" y="7627430"/>
                </a:lnTo>
                <a:lnTo>
                  <a:pt x="0" y="76274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13832">
            <a:off x="-4531687" y="6137129"/>
            <a:ext cx="8157874" cy="9711754"/>
          </a:xfrm>
          <a:custGeom>
            <a:avLst/>
            <a:gdLst/>
            <a:ahLst/>
            <a:cxnLst/>
            <a:rect l="l" t="t" r="r" b="b"/>
            <a:pathLst>
              <a:path w="8157874" h="9711754">
                <a:moveTo>
                  <a:pt x="0" y="0"/>
                </a:moveTo>
                <a:lnTo>
                  <a:pt x="8157874" y="0"/>
                </a:lnTo>
                <a:lnTo>
                  <a:pt x="8157874" y="9711754"/>
                </a:lnTo>
                <a:lnTo>
                  <a:pt x="0" y="97117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666750" y="838200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Quick Reference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3762238"/>
            <a:ext cx="15349306" cy="3771900"/>
            <a:chOff x="0" y="0"/>
            <a:chExt cx="20465741" cy="5029200"/>
          </a:xfrm>
        </p:grpSpPr>
        <p:sp>
          <p:nvSpPr>
            <p:cNvPr id="5" name="TextBox 5"/>
            <p:cNvSpPr txBox="1"/>
            <p:nvPr/>
          </p:nvSpPr>
          <p:spPr>
            <a:xfrm>
              <a:off x="0" y="-9525"/>
              <a:ext cx="13274829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4A90E2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Key Elements of the System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739900"/>
              <a:ext cx="20465741" cy="32893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Framework: LangGraph and LangChain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Models: Planner and Executor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Tools: Web search, Stock lookup, Calculator, Get Weather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Memory: SQLite conversation checkpointer</a:t>
              </a:r>
            </a:p>
            <a:p>
              <a:pPr marL="647700" lvl="1" indent="-323850" algn="l">
                <a:lnSpc>
                  <a:spcPts val="3900"/>
                </a:lnSpc>
                <a:buFont typeface="Arial"/>
                <a:buChar char="•"/>
              </a:pPr>
              <a:r>
                <a:rPr lang="en-US" sz="3000">
                  <a:solidFill>
                    <a:srgbClr val="1A1A1A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Github Repo. Link:- </a:t>
              </a:r>
              <a:r>
                <a:rPr lang="en-US" sz="3000" u="sng">
                  <a:solidFill>
                    <a:srgbClr val="4A90E2"/>
                  </a:solidFill>
                  <a:latin typeface="HK Grotesk Light"/>
                  <a:ea typeface="HK Grotesk Light"/>
                  <a:cs typeface="HK Grotesk Light"/>
                  <a:sym typeface="HK Grotesk Light"/>
                  <a:hlinkClick r:id="rId3" tooltip="https://github.com/aksaini2003/Multi-Step-Problem-Solving-Agent"/>
                </a:rPr>
                <a:t>https://github.com/aksaini2003/Multi-Step-Problem-Solving-Agent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9300848">
            <a:off x="12064338" y="5278644"/>
            <a:ext cx="13730046" cy="12931207"/>
          </a:xfrm>
          <a:custGeom>
            <a:avLst/>
            <a:gdLst/>
            <a:ahLst/>
            <a:cxnLst/>
            <a:rect l="l" t="t" r="r" b="b"/>
            <a:pathLst>
              <a:path w="13730046" h="12931207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666750" y="4883177"/>
            <a:ext cx="10988151" cy="4375123"/>
            <a:chOff x="0" y="0"/>
            <a:chExt cx="14650868" cy="5833497"/>
          </a:xfrm>
        </p:grpSpPr>
        <p:sp>
          <p:nvSpPr>
            <p:cNvPr id="4" name="TextBox 4"/>
            <p:cNvSpPr txBox="1"/>
            <p:nvPr/>
          </p:nvSpPr>
          <p:spPr>
            <a:xfrm>
              <a:off x="0" y="-9525"/>
              <a:ext cx="14650868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39"/>
                </a:lnSpc>
              </a:pPr>
              <a:r>
                <a:rPr lang="en-US" sz="2199" b="1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Phone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410633"/>
              <a:ext cx="14650868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4A90E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+9187643954136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378039"/>
              <a:ext cx="14650868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39"/>
                </a:lnSpc>
              </a:pPr>
              <a:r>
                <a:rPr lang="en-US" sz="2199" b="1" u="none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Email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793964"/>
              <a:ext cx="14650868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4A90E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aashishkumarsaini2003@gmail.com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65639"/>
              <a:ext cx="14650868" cy="454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39"/>
                </a:lnSpc>
              </a:pPr>
              <a:r>
                <a:rPr lang="en-US" sz="2199" b="1">
                  <a:solidFill>
                    <a:srgbClr val="1A1A1A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LinkedIn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185797"/>
              <a:ext cx="14650868" cy="6477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900"/>
                </a:lnSpc>
              </a:pPr>
              <a:r>
                <a:rPr lang="en-US" sz="3000">
                  <a:solidFill>
                    <a:srgbClr val="4A90E2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https://www.linkedin.com/in/aashish-kumar-saini-03946b296/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66750" y="2486476"/>
            <a:ext cx="16954500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799"/>
              </a:lnSpc>
            </a:pPr>
            <a:r>
              <a:rPr lang="en-US" sz="8799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PresentationFormat>Custom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HK Grotesk Light</vt:lpstr>
      <vt:lpstr>Arial</vt:lpstr>
      <vt:lpstr>HK Grotesk Bold</vt:lpstr>
      <vt:lpstr>Calibri</vt:lpstr>
      <vt:lpstr>HK Grotesk</vt:lpstr>
      <vt:lpstr>Gilda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Multi-Step Reasoning Agent by Aashish Kumar Saini</dc:title>
  <dc:description>Presentation - A Multi-Step Reasoning Agent</dc:description>
  <cp:lastModifiedBy>aashish kumar saini</cp:lastModifiedBy>
  <cp:revision>1</cp:revision>
  <dcterms:created xsi:type="dcterms:W3CDTF">2006-08-16T00:00:00Z</dcterms:created>
  <dcterms:modified xsi:type="dcterms:W3CDTF">2026-09-10T09:14:10Z</dcterms:modified>
  <dc:identifier>DAHUx_htl00</dc:identifier>
</cp:coreProperties>
</file>